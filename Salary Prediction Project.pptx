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4"/>
  </p:notesMasterIdLst>
  <p:sldIdLst>
    <p:sldId id="256" r:id="rId5"/>
    <p:sldId id="2146847054" r:id="rId6"/>
    <p:sldId id="262" r:id="rId7"/>
    <p:sldId id="265" r:id="rId8"/>
    <p:sldId id="266" r:id="rId9"/>
    <p:sldId id="267" r:id="rId10"/>
    <p:sldId id="268" r:id="rId11"/>
    <p:sldId id="269" r:id="rId12"/>
    <p:sldId id="25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B832"/>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varScale="1">
        <p:scale>
          <a:sx n="81" d="100"/>
          <a:sy n="81" d="100"/>
        </p:scale>
        <p:origin x="744"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23-07-2025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7/23/2025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7/23/2025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7/23/2025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7/23/2025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7/23/2025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7/23/2025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7/23/2025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7/23/2025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7/23/2025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7/23/2025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7/23/2025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7/23/2025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parvathym155-coder/Parvathy-M/blob/main/README.md"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colab.research.google.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857839" y="1180613"/>
            <a:ext cx="10180949"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Salary prediction using machine learning</a:t>
            </a:r>
          </a:p>
        </p:txBody>
      </p:sp>
      <p:sp>
        <p:nvSpPr>
          <p:cNvPr id="4" name="TextBox 3"/>
          <p:cNvSpPr txBox="1"/>
          <p:nvPr/>
        </p:nvSpPr>
        <p:spPr>
          <a:xfrm>
            <a:off x="452486" y="3719099"/>
            <a:ext cx="11274457" cy="1200329"/>
          </a:xfrm>
          <a:prstGeom prst="rect">
            <a:avLst/>
          </a:prstGeom>
          <a:noFill/>
        </p:spPr>
        <p:txBody>
          <a:bodyPr wrap="square" lIns="91440" tIns="45720" rIns="91440" bIns="45720" rtlCol="0" anchor="t">
            <a:spAutoFit/>
          </a:bodyPr>
          <a:lstStyle/>
          <a:p>
            <a:r>
              <a:rPr lang="en-US" sz="2400" b="1" dirty="0">
                <a:solidFill>
                  <a:schemeClr val="accent1">
                    <a:lumMod val="75000"/>
                  </a:schemeClr>
                </a:solidFill>
                <a:latin typeface="Arial" pitchFamily="34" charset="0"/>
                <a:cs typeface="Arial" pitchFamily="34" charset="0"/>
              </a:rPr>
              <a:t>Presented By:</a:t>
            </a:r>
          </a:p>
          <a:p>
            <a:r>
              <a:rPr lang="en-US" sz="2400" b="1" dirty="0">
                <a:solidFill>
                  <a:schemeClr val="accent1">
                    <a:lumMod val="75000"/>
                  </a:schemeClr>
                </a:solidFill>
                <a:latin typeface="Arial"/>
                <a:cs typeface="Arial"/>
              </a:rPr>
              <a:t>  Parvathy M</a:t>
            </a:r>
          </a:p>
          <a:p>
            <a:r>
              <a:rPr lang="en-US" sz="2400" b="1" dirty="0">
                <a:solidFill>
                  <a:schemeClr val="accent1">
                    <a:lumMod val="75000"/>
                  </a:schemeClr>
                </a:solidFill>
                <a:latin typeface="Arial"/>
                <a:cs typeface="Arial"/>
              </a:rPr>
              <a:t>  Chinmaya Vishwa Vidyapeeth( Deemed to be University) Ernakulam, Kerala</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a:t>
            </a:r>
            <a:endParaRPr lang="en-US" dirty="0">
              <a:latin typeface="Arial"/>
              <a:cs typeface="Calibri"/>
            </a:endParaRPr>
          </a:p>
          <a:p>
            <a:pPr marL="305435" indent="-305435"/>
            <a:r>
              <a:rPr lang="en-US" sz="2000" b="1" dirty="0">
                <a:latin typeface="Arial"/>
                <a:ea typeface="+mn-lt"/>
                <a:cs typeface="Arial"/>
              </a:rPr>
              <a:t>Result</a:t>
            </a:r>
          </a:p>
          <a:p>
            <a:pPr marL="305435" indent="-305435"/>
            <a:r>
              <a:rPr lang="en-US" sz="2000" b="1" dirty="0">
                <a:latin typeface="Arial"/>
                <a:ea typeface="+mn-lt"/>
                <a:cs typeface="Arial"/>
              </a:rPr>
              <a:t>Conclusion</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452403" y="972484"/>
            <a:ext cx="11029616" cy="530296"/>
          </a:xfrm>
        </p:spPr>
        <p:txBody>
          <a:bodyPr>
            <a:normAutofit fontScale="90000"/>
          </a:bodyPr>
          <a:lstStyle/>
          <a:p>
            <a:r>
              <a:rPr lang="en-US" sz="4400" b="1" dirty="0">
                <a:solidFill>
                  <a:schemeClr val="accent1">
                    <a:lumMod val="75000"/>
                  </a:schemeClr>
                </a:solidFill>
                <a:latin typeface="Arial" panose="020B0604020202020204" pitchFamily="34" charset="0"/>
                <a:cs typeface="Arial" panose="020B0604020202020204" pitchFamily="34" charset="0"/>
              </a:rPr>
              <a:t>Problem Statement</a:t>
            </a:r>
            <a:endParaRPr lang="en-US" sz="4400" dirty="0">
              <a:solidFill>
                <a:schemeClr val="accent1">
                  <a:lumMod val="75000"/>
                </a:schemeClr>
              </a:solidFill>
            </a:endParaRPr>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305435" indent="-305435"/>
            <a:r>
              <a:rPr lang="en-US" sz="2000" dirty="0">
                <a:solidFill>
                  <a:srgbClr val="7030A0"/>
                </a:solidFill>
              </a:rPr>
              <a:t>In many organizations, understanding salary distributions and predicting income brackets is crucial for workforce planning, compensation analysis, and policy development. This project aims to develop a predictive model that determines whether an employee's annual salary falls above or below $50K based on key demographic and employment factors. The model analyzes variables including age, education level, and weekly working hours to classify income ranges. The solution seeks to provide reliable insights to support equitable compensation practices and informed strategic decision-making. By leveraging data-driven approaches, it addresses the need for objective salary assessment in organizational planning.</a:t>
            </a:r>
            <a:endParaRPr lang="en-IN" sz="3600" dirty="0">
              <a:solidFill>
                <a:srgbClr val="7030A0"/>
              </a:solidFill>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1" y="754144"/>
            <a:ext cx="11029616" cy="740382"/>
          </a:xfrm>
        </p:spPr>
        <p:txBody>
          <a:bodyPr>
            <a:normAutofit fontScale="90000"/>
          </a:bodyPr>
          <a:lstStyle/>
          <a:p>
            <a:r>
              <a:rPr lang="en-US" sz="4400" b="1" dirty="0">
                <a:solidFill>
                  <a:schemeClr val="accent1">
                    <a:lumMod val="75000"/>
                  </a:schemeClr>
                </a:solidFill>
                <a:latin typeface="Arial"/>
                <a:ea typeface="+mj-lt"/>
                <a:cs typeface="Arial"/>
              </a:rPr>
              <a:t>System Development Approach</a:t>
            </a:r>
            <a:endParaRPr lang="en-US" sz="4400" dirty="0">
              <a:solidFill>
                <a:schemeClr val="accent1">
                  <a:lumMod val="75000"/>
                </a:schemeClr>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normAutofit/>
          </a:bodyPr>
          <a:lstStyle/>
          <a:p>
            <a:r>
              <a:rPr lang="en-IN" sz="2400" b="1" dirty="0">
                <a:solidFill>
                  <a:srgbClr val="002060"/>
                </a:solidFill>
              </a:rPr>
              <a:t>Requirements</a:t>
            </a:r>
            <a:r>
              <a:rPr lang="en-IN" sz="2400" dirty="0">
                <a:solidFill>
                  <a:srgbClr val="002060"/>
                </a:solidFill>
              </a:rPr>
              <a:t>:</a:t>
            </a:r>
            <a:r>
              <a:rPr lang="en-IN" sz="2400" dirty="0"/>
              <a:t> Python 3.8+, pandas, scikit-learn, matplotlib/seaborn</a:t>
            </a:r>
          </a:p>
          <a:p>
            <a:r>
              <a:rPr lang="en-IN" sz="2400" b="1" dirty="0">
                <a:solidFill>
                  <a:srgbClr val="002060"/>
                </a:solidFill>
              </a:rPr>
              <a:t>Data Prep</a:t>
            </a:r>
            <a:r>
              <a:rPr lang="en-IN" sz="2400" dirty="0">
                <a:solidFill>
                  <a:srgbClr val="002060"/>
                </a:solidFill>
              </a:rPr>
              <a:t>: </a:t>
            </a:r>
            <a:r>
              <a:rPr lang="en-IN" sz="2400" dirty="0"/>
              <a:t>Load, clean (handle missing values), encode categorical features</a:t>
            </a:r>
          </a:p>
          <a:p>
            <a:r>
              <a:rPr lang="en-IN" sz="2400" b="1" dirty="0">
                <a:solidFill>
                  <a:srgbClr val="002060"/>
                </a:solidFill>
              </a:rPr>
              <a:t>Model Training</a:t>
            </a:r>
            <a:r>
              <a:rPr lang="en-IN" sz="2400" dirty="0">
                <a:solidFill>
                  <a:srgbClr val="002060"/>
                </a:solidFill>
              </a:rPr>
              <a:t>: </a:t>
            </a:r>
            <a:r>
              <a:rPr lang="en-IN" sz="2400" dirty="0"/>
              <a:t>Decision Tree/Random Forest</a:t>
            </a:r>
          </a:p>
          <a:p>
            <a:r>
              <a:rPr lang="en-IN" sz="2400" b="1" dirty="0">
                <a:solidFill>
                  <a:srgbClr val="002060"/>
                </a:solidFill>
              </a:rPr>
              <a:t>Evaluation</a:t>
            </a:r>
            <a:r>
              <a:rPr lang="en-IN" sz="2400" dirty="0">
                <a:solidFill>
                  <a:srgbClr val="002060"/>
                </a:solidFill>
              </a:rPr>
              <a:t>: </a:t>
            </a:r>
            <a:r>
              <a:rPr lang="en-IN" sz="2400" dirty="0"/>
              <a:t>Confusion matrix, precision/recall metrics</a:t>
            </a:r>
          </a:p>
          <a:p>
            <a:r>
              <a:rPr lang="en-IN" sz="2400" b="1" dirty="0">
                <a:solidFill>
                  <a:srgbClr val="002060"/>
                </a:solidFill>
              </a:rPr>
              <a:t>Prediction</a:t>
            </a:r>
            <a:r>
              <a:rPr lang="en-IN" sz="2400" dirty="0">
                <a:solidFill>
                  <a:srgbClr val="002060"/>
                </a:solidFill>
              </a:rPr>
              <a:t>:</a:t>
            </a:r>
            <a:r>
              <a:rPr lang="en-IN" sz="2400" dirty="0"/>
              <a:t> Test on sample data, display results in formatted tables</a:t>
            </a:r>
          </a:p>
          <a:p>
            <a:r>
              <a:rPr lang="en-IN" sz="2400" b="1" dirty="0">
                <a:solidFill>
                  <a:srgbClr val="002060"/>
                </a:solidFill>
              </a:rPr>
              <a:t>Visualization</a:t>
            </a:r>
            <a:r>
              <a:rPr lang="en-IN" sz="2400" dirty="0">
                <a:solidFill>
                  <a:srgbClr val="002060"/>
                </a:solidFill>
              </a:rPr>
              <a:t>:</a:t>
            </a:r>
            <a:r>
              <a:rPr lang="en-IN" sz="2400" dirty="0"/>
              <a:t> Heatmaps for model performance</a:t>
            </a:r>
          </a:p>
        </p:txBody>
      </p:sp>
    </p:spTree>
    <p:extLst>
      <p:ext uri="{BB962C8B-B14F-4D97-AF65-F5344CB8AC3E}">
        <p14:creationId xmlns:p14="http://schemas.microsoft.com/office/powerpoint/2010/main" val="3202024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22169"/>
            <a:ext cx="11029616" cy="679857"/>
          </a:xfrm>
        </p:spPr>
        <p:txBody>
          <a:bodyPr>
            <a:normAutofit fontScale="90000"/>
          </a:bodyPr>
          <a:lstStyle/>
          <a:p>
            <a:r>
              <a:rPr lang="en-US" sz="4400" b="1" dirty="0">
                <a:solidFill>
                  <a:schemeClr val="accent1">
                    <a:lumMod val="75000"/>
                  </a:schemeClr>
                </a:solidFill>
                <a:latin typeface="Arial"/>
                <a:ea typeface="+mj-lt"/>
                <a:cs typeface="Arial"/>
              </a:rPr>
              <a:t>Algorithm &amp; Deployment</a:t>
            </a:r>
            <a:endParaRPr lang="en-US" dirty="0">
              <a:solidFill>
                <a:schemeClr val="accent1">
                  <a:lumMod val="75000"/>
                </a:schemeClr>
              </a:solidFill>
            </a:endParaRPr>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normAutofit/>
          </a:bodyPr>
          <a:lstStyle/>
          <a:p>
            <a:r>
              <a:rPr lang="en-US" sz="2000" dirty="0"/>
              <a:t>Step 1: Load the dataset containing age, education, working hours, and salary data.</a:t>
            </a:r>
          </a:p>
          <a:p>
            <a:r>
              <a:rPr lang="en-US" sz="2000" dirty="0"/>
              <a:t>Step 2: Clean the data by removing missing values and converting education levels to numerical values.</a:t>
            </a:r>
          </a:p>
          <a:p>
            <a:r>
              <a:rPr lang="en-US" sz="2000" dirty="0"/>
              <a:t>Step 3: Convert salary values into binary categories (≤50K or &gt;50K).</a:t>
            </a:r>
          </a:p>
          <a:p>
            <a:r>
              <a:rPr lang="en-US" sz="2000" dirty="0"/>
              <a:t>Step 4: Split the data into training (80%) and testing (20%) sets.</a:t>
            </a:r>
          </a:p>
          <a:p>
            <a:r>
              <a:rPr lang="en-US" sz="2000" dirty="0"/>
              <a:t>Step 5: Train a Decision Tree model with maximum depth of 3 on the training data.</a:t>
            </a:r>
          </a:p>
          <a:p>
            <a:r>
              <a:rPr lang="en-US" sz="2000" dirty="0"/>
              <a:t>Step 6: Use the trained model to predict salary categories for the test data.</a:t>
            </a:r>
          </a:p>
          <a:p>
            <a:r>
              <a:rPr lang="en-US" sz="2000" dirty="0"/>
              <a:t>Step 7: Evaluate model performance using a confusion matrix.</a:t>
            </a:r>
          </a:p>
          <a:p>
            <a:r>
              <a:rPr lang="en-US" sz="2000" dirty="0"/>
              <a:t>Step 8: Visualize results through heatmaps and metrics.</a:t>
            </a:r>
          </a:p>
          <a:p>
            <a:r>
              <a:rPr lang="en-US" sz="2000" dirty="0"/>
              <a:t>Step 9: Display sample predictions in an easy-to-read table format.</a:t>
            </a:r>
          </a:p>
        </p:txBody>
      </p:sp>
    </p:spTree>
    <p:extLst>
      <p:ext uri="{BB962C8B-B14F-4D97-AF65-F5344CB8AC3E}">
        <p14:creationId xmlns:p14="http://schemas.microsoft.com/office/powerpoint/2010/main" val="4154508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586121"/>
            <a:ext cx="11029616" cy="646331"/>
          </a:xfrm>
        </p:spPr>
        <p:txBody>
          <a:bodyPr>
            <a:normAutofit fontScale="90000"/>
          </a:bodyPr>
          <a:lstStyle/>
          <a:p>
            <a:r>
              <a:rPr lang="en-US" sz="4000" b="1" dirty="0">
                <a:solidFill>
                  <a:schemeClr val="accent1">
                    <a:lumMod val="75000"/>
                  </a:schemeClr>
                </a:solidFill>
                <a:latin typeface="Arial"/>
                <a:ea typeface="+mj-lt"/>
                <a:cs typeface="Arial"/>
              </a:rPr>
              <a:t>Result</a:t>
            </a:r>
          </a:p>
        </p:txBody>
      </p:sp>
      <p:pic>
        <p:nvPicPr>
          <p:cNvPr id="4" name="Picture 3">
            <a:extLst>
              <a:ext uri="{FF2B5EF4-FFF2-40B4-BE49-F238E27FC236}">
                <a16:creationId xmlns:a16="http://schemas.microsoft.com/office/drawing/2014/main" id="{8033CEA8-6BB9-49B8-A570-A12AAF5E2513}"/>
              </a:ext>
            </a:extLst>
          </p:cNvPr>
          <p:cNvPicPr>
            <a:picLocks noChangeAspect="1"/>
          </p:cNvPicPr>
          <p:nvPr/>
        </p:nvPicPr>
        <p:blipFill>
          <a:blip r:embed="rId2"/>
          <a:stretch>
            <a:fillRect/>
          </a:stretch>
        </p:blipFill>
        <p:spPr>
          <a:xfrm>
            <a:off x="581193" y="1232452"/>
            <a:ext cx="6564326" cy="4923391"/>
          </a:xfrm>
          <a:prstGeom prst="rect">
            <a:avLst/>
          </a:prstGeom>
        </p:spPr>
      </p:pic>
      <p:sp>
        <p:nvSpPr>
          <p:cNvPr id="2" name="TextBox 1">
            <a:extLst>
              <a:ext uri="{FF2B5EF4-FFF2-40B4-BE49-F238E27FC236}">
                <a16:creationId xmlns:a16="http://schemas.microsoft.com/office/drawing/2014/main" id="{BD34127F-A7B5-4C30-8A2D-AE96241EBA35}"/>
              </a:ext>
            </a:extLst>
          </p:cNvPr>
          <p:cNvSpPr txBox="1"/>
          <p:nvPr/>
        </p:nvSpPr>
        <p:spPr>
          <a:xfrm>
            <a:off x="7456602" y="1527142"/>
            <a:ext cx="3572758" cy="1200329"/>
          </a:xfrm>
          <a:prstGeom prst="rect">
            <a:avLst/>
          </a:prstGeom>
          <a:noFill/>
          <a:ln>
            <a:solidFill>
              <a:schemeClr val="bg1"/>
            </a:solidFill>
          </a:ln>
        </p:spPr>
        <p:txBody>
          <a:bodyPr wrap="square" rtlCol="0">
            <a:spAutoFit/>
          </a:bodyPr>
          <a:lstStyle/>
          <a:p>
            <a:r>
              <a:rPr lang="en-IN" dirty="0" err="1"/>
              <a:t>Github</a:t>
            </a:r>
            <a:r>
              <a:rPr lang="en-IN" dirty="0"/>
              <a:t> Link:</a:t>
            </a:r>
          </a:p>
          <a:p>
            <a:r>
              <a:rPr lang="en-IN" dirty="0">
                <a:solidFill>
                  <a:srgbClr val="0070C0"/>
                </a:solidFill>
                <a:hlinkClick r:id="rId3">
                  <a:extLst>
                    <a:ext uri="{A12FA001-AC4F-418D-AE19-62706E023703}">
                      <ahyp:hlinkClr xmlns:ahyp="http://schemas.microsoft.com/office/drawing/2018/hyperlinkcolor" val="tx"/>
                    </a:ext>
                  </a:extLst>
                </a:hlinkClick>
              </a:rPr>
              <a:t>https://github.com/parvathym155-coder/Parvathy-M/blob/main/README.md</a:t>
            </a:r>
            <a:endParaRPr lang="en-IN" dirty="0">
              <a:solidFill>
                <a:srgbClr val="0070C0"/>
              </a:solidFill>
            </a:endParaRPr>
          </a:p>
        </p:txBody>
      </p:sp>
    </p:spTree>
    <p:extLst>
      <p:ext uri="{BB962C8B-B14F-4D97-AF65-F5344CB8AC3E}">
        <p14:creationId xmlns:p14="http://schemas.microsoft.com/office/powerpoint/2010/main" val="1483293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03315"/>
            <a:ext cx="11029616" cy="629137"/>
          </a:xfrm>
        </p:spPr>
        <p:txBody>
          <a:bodyPr>
            <a:normAutofit fontScale="90000"/>
          </a:bodyPr>
          <a:lstStyle/>
          <a:p>
            <a:r>
              <a:rPr lang="en-US" sz="4000" b="1" dirty="0">
                <a:solidFill>
                  <a:schemeClr val="accent1">
                    <a:lumMod val="75000"/>
                  </a:schemeClr>
                </a:solidFill>
                <a:latin typeface="Arial"/>
                <a:ea typeface="+mj-lt"/>
                <a:cs typeface="Arial"/>
              </a:rPr>
              <a:t>Conclusion</a:t>
            </a:r>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US" sz="2800" dirty="0"/>
              <a:t>This salary prediction model effectively classifies income brackets using a decision tree, achieving good accuracy with age, education and work hours as key predictors. The project delivered clear visualizations of model performance through confusion matrices and metrics, while highlighting challenges like data cleaning and feature limitations. Future enhancements could expand the feature set and employ more advanced algorithms to improve real-world applicability.</a:t>
            </a:r>
            <a:endParaRPr lang="en-IN" sz="4400" dirty="0"/>
          </a:p>
        </p:txBody>
      </p:sp>
    </p:spTree>
    <p:extLst>
      <p:ext uri="{BB962C8B-B14F-4D97-AF65-F5344CB8AC3E}">
        <p14:creationId xmlns:p14="http://schemas.microsoft.com/office/powerpoint/2010/main" val="3183315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31596"/>
            <a:ext cx="11029616" cy="600856"/>
          </a:xfrm>
        </p:spPr>
        <p:txBody>
          <a:bodyPr>
            <a:normAutofit fontScale="90000"/>
          </a:bodyPr>
          <a:lstStyle/>
          <a:p>
            <a:r>
              <a:rPr lang="en-US" sz="4000" b="1" dirty="0">
                <a:solidFill>
                  <a:schemeClr val="accent1">
                    <a:lumMod val="75000"/>
                  </a:schemeClr>
                </a:solidFill>
                <a:latin typeface="Arial"/>
                <a:ea typeface="+mj-lt"/>
                <a:cs typeface="Arial"/>
              </a:rPr>
              <a:t>References</a:t>
            </a:r>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IN" sz="2400" dirty="0"/>
              <a:t>Google Colab: </a:t>
            </a:r>
            <a:r>
              <a:rPr lang="en-IN" sz="2400" dirty="0">
                <a:hlinkClick r:id="rId2"/>
              </a:rPr>
              <a:t>https://colab.research.google.com</a:t>
            </a:r>
            <a:endParaRPr lang="en-IN" sz="2400" dirty="0"/>
          </a:p>
          <a:p>
            <a:r>
              <a:rPr lang="it-IT" sz="2400" dirty="0"/>
              <a:t>Decision Trees:  </a:t>
            </a:r>
            <a:r>
              <a:rPr lang="it-IT" sz="2400" u="sng" dirty="0">
                <a:solidFill>
                  <a:srgbClr val="78B832"/>
                </a:solidFill>
              </a:rPr>
              <a:t>https://scikit-learn.org/stable/modules/tree.html</a:t>
            </a:r>
          </a:p>
          <a:p>
            <a:r>
              <a:rPr lang="it-IT" sz="2400" dirty="0"/>
              <a:t>Confusion Matrix:  </a:t>
            </a:r>
            <a:r>
              <a:rPr lang="it-IT" sz="2400" u="sng" dirty="0">
                <a:solidFill>
                  <a:srgbClr val="78B832"/>
                </a:solidFill>
              </a:rPr>
              <a:t>https://scikit-learn.org/stable/modules/generated/sklearn.metrics.confusion_matrix.html</a:t>
            </a:r>
          </a:p>
          <a:p>
            <a:r>
              <a:rPr lang="it-IT" sz="2400" dirty="0"/>
              <a:t>Train-Test Split: </a:t>
            </a:r>
            <a:r>
              <a:rPr lang="it-IT" sz="2400" dirty="0">
                <a:solidFill>
                  <a:srgbClr val="92D050"/>
                </a:solidFill>
              </a:rPr>
              <a:t> </a:t>
            </a:r>
            <a:r>
              <a:rPr lang="it-IT" sz="2400" u="sng" dirty="0">
                <a:solidFill>
                  <a:srgbClr val="78B832"/>
                </a:solidFill>
              </a:rPr>
              <a:t>https://scikit-learn.org/stable/modules/generated/sklearn.model_selection.train_test_split.html</a:t>
            </a:r>
          </a:p>
        </p:txBody>
      </p:sp>
    </p:spTree>
    <p:extLst>
      <p:ext uri="{BB962C8B-B14F-4D97-AF65-F5344CB8AC3E}">
        <p14:creationId xmlns:p14="http://schemas.microsoft.com/office/powerpoint/2010/main" val="728950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http://purl.org/dc/terms/"/>
    <ds:schemaRef ds:uri="http://purl.org/dc/dcmitype/"/>
    <ds:schemaRef ds:uri="http://schemas.microsoft.com/office/2006/metadata/properties"/>
    <ds:schemaRef ds:uri="http://schemas.microsoft.com/office/2006/documentManagement/types"/>
    <ds:schemaRef ds:uri="http://purl.org/dc/elements/1.1/"/>
    <ds:schemaRef ds:uri="c0fa2617-96bd-425d-8578-e93563fe37c5"/>
    <ds:schemaRef ds:uri="9162bd5b-4ed9-4da3-b376-05204580ba3f"/>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384</TotalTime>
  <Words>530</Words>
  <Application>Microsoft Office PowerPoint</Application>
  <PresentationFormat>Widescreen</PresentationFormat>
  <Paragraphs>42</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Franklin Gothic Book</vt:lpstr>
      <vt:lpstr>Franklin Gothic Demi</vt:lpstr>
      <vt:lpstr>Wingdings 2</vt:lpstr>
      <vt:lpstr>DividendVTI</vt:lpstr>
      <vt:lpstr>Salary prediction using machine learning</vt:lpstr>
      <vt:lpstr>OUTLINE</vt:lpstr>
      <vt:lpstr>Problem Statement</vt:lpstr>
      <vt:lpstr>System Development Approach</vt:lpstr>
      <vt:lpstr>Algorithm &amp; Deployment</vt:lpstr>
      <vt:lpstr>Result</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DELL</cp:lastModifiedBy>
  <cp:revision>46</cp:revision>
  <dcterms:created xsi:type="dcterms:W3CDTF">2021-05-26T16:50:10Z</dcterms:created>
  <dcterms:modified xsi:type="dcterms:W3CDTF">2025-07-23T09:59:17Z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